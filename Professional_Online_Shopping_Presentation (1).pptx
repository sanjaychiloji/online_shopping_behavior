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3" d="100"/>
          <a:sy n="63" d="100"/>
        </p:scale>
        <p:origin x="2026" y="52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316" y="2237"/>
            <a:ext cx="8840684" cy="1132173"/>
          </a:xfrm>
        </p:spPr>
        <p:txBody>
          <a:bodyPr anchor="b">
            <a:noAutofit/>
          </a:bodyPr>
          <a:lstStyle/>
          <a:p>
            <a:pPr>
              <a:lnSpc>
                <a:spcPct val="90000"/>
              </a:lnSpc>
            </a:pPr>
            <a:r>
              <a:rPr lang="en-US" b="1" dirty="0"/>
              <a:t>Online Shopping Behavior Analysis</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sX0" fmla="*/ 0 w 2606040"/>
              <a:gd name="csY0" fmla="*/ 0 h 18288"/>
              <a:gd name="csX1" fmla="*/ 625450 w 2606040"/>
              <a:gd name="csY1" fmla="*/ 0 h 18288"/>
              <a:gd name="csX2" fmla="*/ 1224839 w 2606040"/>
              <a:gd name="csY2" fmla="*/ 0 h 18288"/>
              <a:gd name="csX3" fmla="*/ 1824228 w 2606040"/>
              <a:gd name="csY3" fmla="*/ 0 h 18288"/>
              <a:gd name="csX4" fmla="*/ 2606040 w 2606040"/>
              <a:gd name="csY4" fmla="*/ 0 h 18288"/>
              <a:gd name="csX5" fmla="*/ 2606040 w 2606040"/>
              <a:gd name="csY5" fmla="*/ 18288 h 18288"/>
              <a:gd name="csX6" fmla="*/ 1902409 w 2606040"/>
              <a:gd name="csY6" fmla="*/ 18288 h 18288"/>
              <a:gd name="csX7" fmla="*/ 1276960 w 2606040"/>
              <a:gd name="csY7" fmla="*/ 18288 h 18288"/>
              <a:gd name="csX8" fmla="*/ 677570 w 2606040"/>
              <a:gd name="csY8" fmla="*/ 18288 h 18288"/>
              <a:gd name="csX9" fmla="*/ 0 w 2606040"/>
              <a:gd name="csY9" fmla="*/ 18288 h 18288"/>
              <a:gd name="csX10" fmla="*/ 0 w 2606040"/>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0D7FFF6-CC09-0689-4987-6D34FDC30FCB}"/>
              </a:ext>
            </a:extLst>
          </p:cNvPr>
          <p:cNvPicPr>
            <a:picLocks noChangeAspect="1"/>
          </p:cNvPicPr>
          <p:nvPr/>
        </p:nvPicPr>
        <p:blipFill>
          <a:blip r:embed="rId2"/>
          <a:srcRect l="7481" t="-29633" r="104" b="-27372"/>
          <a:stretch>
            <a:fillRect/>
          </a:stretch>
        </p:blipFill>
        <p:spPr>
          <a:xfrm>
            <a:off x="3982062" y="999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6" name="TextBox 5">
            <a:extLst>
              <a:ext uri="{FF2B5EF4-FFF2-40B4-BE49-F238E27FC236}">
                <a16:creationId xmlns:a16="http://schemas.microsoft.com/office/drawing/2014/main" id="{7D0FDD82-B0A7-9522-F615-3CF15F185F5A}"/>
              </a:ext>
            </a:extLst>
          </p:cNvPr>
          <p:cNvSpPr txBox="1"/>
          <p:nvPr/>
        </p:nvSpPr>
        <p:spPr>
          <a:xfrm>
            <a:off x="445839" y="3342719"/>
            <a:ext cx="3488718" cy="769441"/>
          </a:xfrm>
          <a:prstGeom prst="rect">
            <a:avLst/>
          </a:prstGeom>
          <a:noFill/>
        </p:spPr>
        <p:txBody>
          <a:bodyPr wrap="square" rtlCol="0">
            <a:spAutoFit/>
          </a:bodyPr>
          <a:lstStyle/>
          <a:p>
            <a:r>
              <a:rPr lang="en-US" sz="4400" b="1" u="sng" dirty="0"/>
              <a:t>Presented by </a:t>
            </a:r>
          </a:p>
        </p:txBody>
      </p:sp>
      <p:sp>
        <p:nvSpPr>
          <p:cNvPr id="7" name="TextBox 6">
            <a:extLst>
              <a:ext uri="{FF2B5EF4-FFF2-40B4-BE49-F238E27FC236}">
                <a16:creationId xmlns:a16="http://schemas.microsoft.com/office/drawing/2014/main" id="{769EF13F-4A98-8074-46FD-9AE8FC78FE65}"/>
              </a:ext>
            </a:extLst>
          </p:cNvPr>
          <p:cNvSpPr txBox="1"/>
          <p:nvPr/>
        </p:nvSpPr>
        <p:spPr>
          <a:xfrm>
            <a:off x="1100992" y="4124050"/>
            <a:ext cx="2083395" cy="461665"/>
          </a:xfrm>
          <a:prstGeom prst="rect">
            <a:avLst/>
          </a:prstGeom>
          <a:noFill/>
        </p:spPr>
        <p:txBody>
          <a:bodyPr wrap="square" rtlCol="0">
            <a:spAutoFit/>
          </a:bodyPr>
          <a:lstStyle/>
          <a:p>
            <a:r>
              <a:rPr lang="en-US" sz="2400" dirty="0"/>
              <a:t>Sanju Chiloji</a:t>
            </a:r>
          </a:p>
        </p:txBody>
      </p:sp>
      <p:sp>
        <p:nvSpPr>
          <p:cNvPr id="13" name="Oval 12">
            <a:extLst>
              <a:ext uri="{FF2B5EF4-FFF2-40B4-BE49-F238E27FC236}">
                <a16:creationId xmlns:a16="http://schemas.microsoft.com/office/drawing/2014/main" id="{A0E9C562-7F2C-EAF1-71B2-9DD3D63AC0A8}"/>
              </a:ext>
            </a:extLst>
          </p:cNvPr>
          <p:cNvSpPr/>
          <p:nvPr/>
        </p:nvSpPr>
        <p:spPr>
          <a:xfrm>
            <a:off x="303316" y="2340864"/>
            <a:ext cx="2979380" cy="641099"/>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96724" y="1874896"/>
            <a:ext cx="3790328" cy="1847553"/>
          </a:xfrm>
        </p:spPr>
        <p:txBody>
          <a:bodyPr>
            <a:normAutofit/>
          </a:bodyPr>
          <a:lstStyle/>
          <a:p>
            <a:endParaRPr lang="en-US" sz="1900" dirty="0"/>
          </a:p>
          <a:p>
            <a:r>
              <a:rPr lang="en-US" sz="2400" b="1" dirty="0"/>
              <a:t>Data Analysis Project</a:t>
            </a:r>
          </a:p>
          <a:p>
            <a:r>
              <a:rPr lang="en-US" sz="2400" b="1" dirty="0"/>
              <a:t>Using Tableau Dashboard</a:t>
            </a:r>
          </a:p>
        </p:txBody>
      </p:sp>
      <p:pic>
        <p:nvPicPr>
          <p:cNvPr id="8" name="Picture 7">
            <a:extLst>
              <a:ext uri="{FF2B5EF4-FFF2-40B4-BE49-F238E27FC236}">
                <a16:creationId xmlns:a16="http://schemas.microsoft.com/office/drawing/2014/main" id="{31296E21-9E3A-9E19-0AFF-CD96D368FEB6}"/>
              </a:ext>
            </a:extLst>
          </p:cNvPr>
          <p:cNvPicPr>
            <a:picLocks noChangeAspect="1"/>
          </p:cNvPicPr>
          <p:nvPr/>
        </p:nvPicPr>
        <p:blipFill>
          <a:blip r:embed="rId3"/>
          <a:stretch>
            <a:fillRect/>
          </a:stretch>
        </p:blipFill>
        <p:spPr>
          <a:xfrm>
            <a:off x="-321691" y="4915493"/>
            <a:ext cx="2603277" cy="205243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INTRODUTION</a:t>
            </a:r>
            <a:endParaRPr b="1" dirty="0"/>
          </a:p>
        </p:txBody>
      </p:sp>
      <p:sp>
        <p:nvSpPr>
          <p:cNvPr id="3" name="Content Placeholder 2"/>
          <p:cNvSpPr>
            <a:spLocks noGrp="1"/>
          </p:cNvSpPr>
          <p:nvPr>
            <p:ph idx="1"/>
          </p:nvPr>
        </p:nvSpPr>
        <p:spPr>
          <a:xfrm>
            <a:off x="398585" y="1588477"/>
            <a:ext cx="8479536" cy="4026877"/>
          </a:xfrm>
        </p:spPr>
        <p:txBody>
          <a:bodyPr>
            <a:normAutofit lnSpcReduction="10000"/>
          </a:bodyPr>
          <a:lstStyle/>
          <a:p>
            <a:pPr marL="0" indent="0">
              <a:buNone/>
            </a:pPr>
            <a:r>
              <a:rPr lang="en-US" sz="2000" dirty="0"/>
              <a:t>The global retail landscape has undergone a seismic shift over the past decade, transitioning from traditional brick-and-mortar establishments to a sophisticated, data-driven e-commerce ecosystem. This evolution has been further accelerated by the rapid penetration of high-speed internet and the ubiquity of smartphones, which have effectively placed a global marketplace in the pockets of billions. As digital storefronts become the primary point of contact between brands and consumers, understanding the intricacies of online shopping behavior is no longer merely a competitive advantage—it is a fundamental requirement for business sustainability. Utilizing a primary dataset of 253 respondents, this study specifically focuses on the "digital native" demographic—predominantly students and young professionals aged 18–24. While industry giants like Amazon and Flipkart have established market dominance</a:t>
            </a: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Objectives</a:t>
            </a:r>
          </a:p>
        </p:txBody>
      </p:sp>
      <p:sp>
        <p:nvSpPr>
          <p:cNvPr id="3" name="Content Placeholder 2"/>
          <p:cNvSpPr>
            <a:spLocks noGrp="1"/>
          </p:cNvSpPr>
          <p:nvPr>
            <p:ph idx="1"/>
          </p:nvPr>
        </p:nvSpPr>
        <p:spPr/>
        <p:txBody>
          <a:bodyPr/>
          <a:lstStyle/>
          <a:p>
            <a:endParaRPr dirty="0"/>
          </a:p>
          <a:p>
            <a:r>
              <a:rPr dirty="0"/>
              <a:t>• Understand customer behavior</a:t>
            </a:r>
          </a:p>
          <a:p>
            <a:r>
              <a:rPr dirty="0"/>
              <a:t>• Analyze spending &amp; frequency</a:t>
            </a:r>
          </a:p>
          <a:p>
            <a:r>
              <a:rPr dirty="0"/>
              <a:t>• Evaluate platforms &amp; payments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609597"/>
            <a:ext cx="7044316" cy="1330841"/>
          </a:xfrm>
        </p:spPr>
        <p:txBody>
          <a:bodyPr>
            <a:normAutofit/>
          </a:bodyPr>
          <a:lstStyle/>
          <a:p>
            <a:pPr>
              <a:lnSpc>
                <a:spcPct val="90000"/>
              </a:lnSpc>
            </a:pPr>
            <a:r>
              <a:rPr lang="en-US" b="1" dirty="0"/>
              <a:t>Data Processing &amp; Methodology</a:t>
            </a:r>
            <a:endParaRPr lang="en-US" b="1"/>
          </a:p>
        </p:txBody>
      </p:sp>
      <p:sp>
        <p:nvSpPr>
          <p:cNvPr id="3" name="Content Placeholder 2"/>
          <p:cNvSpPr>
            <a:spLocks noGrp="1"/>
          </p:cNvSpPr>
          <p:nvPr>
            <p:ph idx="1"/>
          </p:nvPr>
        </p:nvSpPr>
        <p:spPr>
          <a:xfrm>
            <a:off x="426387" y="2077830"/>
            <a:ext cx="5279469" cy="3591379"/>
          </a:xfrm>
        </p:spPr>
        <p:txBody>
          <a:bodyPr>
            <a:noAutofit/>
          </a:bodyPr>
          <a:lstStyle/>
          <a:p>
            <a:pPr marL="0" indent="0">
              <a:lnSpc>
                <a:spcPct val="90000"/>
              </a:lnSpc>
              <a:buNone/>
            </a:pPr>
            <a:r>
              <a:rPr lang="en-US" sz="1800" dirty="0"/>
              <a:t>The Online Shopping Behavior project was developed using survey-based consumer data collected from multiple respondents. The raw dataset contained demographic information, shopping frequency, preferred platforms, payment methods, customer satisfaction, and purchasing behavior. Initially, the data cleaning process was performed using Excel to remove duplicate values, handle missing data, and correct inconsistent entries. Data transformation techniques such as formatting, categorization, and filtering were applied to improve data quality. After preprocessing, the cleaned dataset was analyzed using data visualization and analytical tools to identify meaningful patterns and trends. The methodology followed a structured approach including data collection, preprocessing, exploratory analysis, visualization, and interpretation of results for business decision-making.</a:t>
            </a:r>
          </a:p>
        </p:txBody>
      </p:sp>
      <p:pic>
        <p:nvPicPr>
          <p:cNvPr id="5" name="Picture 4">
            <a:extLst>
              <a:ext uri="{FF2B5EF4-FFF2-40B4-BE49-F238E27FC236}">
                <a16:creationId xmlns:a16="http://schemas.microsoft.com/office/drawing/2014/main" id="{312B9A2A-C929-B4A1-82A9-948A1EC3F4E0}"/>
              </a:ext>
            </a:extLst>
          </p:cNvPr>
          <p:cNvPicPr>
            <a:picLocks noChangeAspect="1"/>
          </p:cNvPicPr>
          <p:nvPr/>
        </p:nvPicPr>
        <p:blipFill>
          <a:blip r:embed="rId2"/>
          <a:stretch>
            <a:fillRect/>
          </a:stretch>
        </p:blipFill>
        <p:spPr>
          <a:xfrm>
            <a:off x="5476004" y="2267182"/>
            <a:ext cx="3591379" cy="3591379"/>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22326" y="411480"/>
            <a:ext cx="8401050" cy="1106424"/>
          </a:xfrm>
        </p:spPr>
        <p:txBody>
          <a:bodyPr>
            <a:normAutofit/>
          </a:bodyPr>
          <a:lstStyle/>
          <a:p>
            <a:r>
              <a:rPr lang="en-US" sz="3100" b="1"/>
              <a:t>Exploratory Data Analysis (EDA) Highlights</a:t>
            </a:r>
          </a:p>
        </p:txBody>
      </p:sp>
      <p:sp>
        <p:nvSpPr>
          <p:cNvPr id="12" name="Rectangle 11">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8ABDE76C-589E-E0A2-2D48-FE6586877423}"/>
              </a:ext>
            </a:extLst>
          </p:cNvPr>
          <p:cNvPicPr>
            <a:picLocks noChangeAspect="1"/>
          </p:cNvPicPr>
          <p:nvPr/>
        </p:nvPicPr>
        <p:blipFill>
          <a:blip r:embed="rId2"/>
          <a:stretch>
            <a:fillRect/>
          </a:stretch>
        </p:blipFill>
        <p:spPr>
          <a:xfrm>
            <a:off x="322326" y="3035497"/>
            <a:ext cx="3056067" cy="1390510"/>
          </a:xfrm>
          <a:prstGeom prst="rect">
            <a:avLst/>
          </a:prstGeom>
        </p:spPr>
      </p:pic>
      <p:sp useBgFill="1">
        <p:nvSpPr>
          <p:cNvPr id="14" name="Rectangle 13">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7850" y="1721922"/>
            <a:ext cx="3163824"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3604707" y="1883842"/>
            <a:ext cx="4940679" cy="4358640"/>
          </a:xfrm>
        </p:spPr>
        <p:txBody>
          <a:bodyPr anchor="ctr">
            <a:noAutofit/>
          </a:bodyPr>
          <a:lstStyle/>
          <a:p>
            <a:pPr marL="0" indent="0">
              <a:lnSpc>
                <a:spcPct val="90000"/>
              </a:lnSpc>
              <a:buNone/>
            </a:pPr>
            <a:r>
              <a:rPr lang="en-US" sz="2000" dirty="0"/>
              <a:t>Exploratory Data Analysis (EDA) was performed to understand customer purchasing behavior and identify important trends within the dataset. Different variables such as age group, gender, shopping frequency, payment method, and preferred online platforms were analyzed using charts and summary statistics. The analysis revealed that younger consumers are more active in online shopping compared to older age groups. Most respondents preferred digital payment methods such as UPI and debit cards over cash on delivery. Discounts, convenience, and product reviews were identified as major factors influencing purchase decisions. EDA also helped identify customer preferences and behavioral patterns that support better business understanding and market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0EFD753D-6A49-46DD-9E82-AA6E2C62B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138A5824-1F4A-4EE7-BC13-5BB48FC08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0033" y="321732"/>
            <a:ext cx="3426555" cy="6192603"/>
          </a:xfrm>
          <a:prstGeom prst="rect">
            <a:avLst/>
          </a:prstGeom>
          <a:solidFill>
            <a:srgbClr val="333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98692" y="637523"/>
            <a:ext cx="2706672" cy="1690993"/>
          </a:xfrm>
        </p:spPr>
        <p:txBody>
          <a:bodyPr anchor="b">
            <a:normAutofit/>
          </a:bodyPr>
          <a:lstStyle/>
          <a:p>
            <a:r>
              <a:rPr lang="en-US" sz="3100" b="1">
                <a:solidFill>
                  <a:srgbClr val="FFFFFF"/>
                </a:solidFill>
              </a:rPr>
              <a:t>Methodology &amp; Tools</a:t>
            </a:r>
          </a:p>
        </p:txBody>
      </p:sp>
      <p:pic>
        <p:nvPicPr>
          <p:cNvPr id="6" name="Picture 5">
            <a:extLst>
              <a:ext uri="{FF2B5EF4-FFF2-40B4-BE49-F238E27FC236}">
                <a16:creationId xmlns:a16="http://schemas.microsoft.com/office/drawing/2014/main" id="{60B5C256-99F9-909B-C064-86E5B910DE16}"/>
              </a:ext>
            </a:extLst>
          </p:cNvPr>
          <p:cNvPicPr>
            <a:picLocks noChangeAspect="1"/>
          </p:cNvPicPr>
          <p:nvPr/>
        </p:nvPicPr>
        <p:blipFill>
          <a:blip r:embed="rId2"/>
          <a:srcRect l="-11985" t="208" r="-5138" b="-200"/>
          <a:stretch>
            <a:fillRect/>
          </a:stretch>
        </p:blipFill>
        <p:spPr>
          <a:xfrm>
            <a:off x="3666588" y="325905"/>
            <a:ext cx="2345712" cy="2002611"/>
          </a:xfrm>
          <a:prstGeom prst="rect">
            <a:avLst/>
          </a:prstGeom>
        </p:spPr>
      </p:pic>
      <p:sp>
        <p:nvSpPr>
          <p:cNvPr id="3" name="Content Placeholder 2"/>
          <p:cNvSpPr>
            <a:spLocks noGrp="1"/>
          </p:cNvSpPr>
          <p:nvPr>
            <p:ph idx="1"/>
          </p:nvPr>
        </p:nvSpPr>
        <p:spPr>
          <a:xfrm>
            <a:off x="598692" y="2474260"/>
            <a:ext cx="2705947" cy="3677158"/>
          </a:xfrm>
        </p:spPr>
        <p:txBody>
          <a:bodyPr anchor="t">
            <a:normAutofit/>
          </a:bodyPr>
          <a:lstStyle/>
          <a:p>
            <a:r>
              <a:rPr lang="en-US" sz="1700">
                <a:solidFill>
                  <a:srgbClr val="FFFFFF"/>
                </a:solidFill>
              </a:rPr>
              <a:t>Data Collection</a:t>
            </a:r>
          </a:p>
          <a:p>
            <a:r>
              <a:rPr lang="en-US" sz="1700">
                <a:solidFill>
                  <a:srgbClr val="FFFFFF"/>
                </a:solidFill>
              </a:rPr>
              <a:t>Data Cleaning</a:t>
            </a:r>
          </a:p>
          <a:p>
            <a:r>
              <a:rPr lang="en-US" sz="1700">
                <a:solidFill>
                  <a:srgbClr val="FFFFFF"/>
                </a:solidFill>
              </a:rPr>
              <a:t>Data Transformation</a:t>
            </a:r>
          </a:p>
          <a:p>
            <a:r>
              <a:rPr lang="en-US" sz="1700">
                <a:solidFill>
                  <a:srgbClr val="FFFFFF"/>
                </a:solidFill>
              </a:rPr>
              <a:t>Dashboard Creation</a:t>
            </a:r>
          </a:p>
          <a:p>
            <a:r>
              <a:rPr lang="en-US" sz="1700">
                <a:solidFill>
                  <a:srgbClr val="FFFFFF"/>
                </a:solidFill>
              </a:rPr>
              <a:t>Google Colab &amp; Forms</a:t>
            </a:r>
          </a:p>
          <a:p>
            <a:r>
              <a:rPr lang="en-US" sz="1700">
                <a:solidFill>
                  <a:srgbClr val="FFFFFF"/>
                </a:solidFill>
              </a:rPr>
              <a:t>SQL &amp; Python</a:t>
            </a:r>
          </a:p>
          <a:p>
            <a:r>
              <a:rPr lang="en-US" sz="1700">
                <a:solidFill>
                  <a:srgbClr val="FFFFFF"/>
                </a:solidFill>
              </a:rPr>
              <a:t>Power BI &amp; Tableau</a:t>
            </a:r>
          </a:p>
          <a:p>
            <a:r>
              <a:rPr lang="en-US" sz="1700">
                <a:solidFill>
                  <a:srgbClr val="FFFFFF"/>
                </a:solidFill>
              </a:rPr>
              <a:t>Excel</a:t>
            </a:r>
          </a:p>
          <a:p>
            <a:pPr marL="0" indent="0">
              <a:buNone/>
            </a:pPr>
            <a:endParaRPr lang="en-US" sz="1700">
              <a:solidFill>
                <a:srgbClr val="FFFFFF"/>
              </a:solidFill>
            </a:endParaRPr>
          </a:p>
          <a:p>
            <a:endParaRPr lang="en-US" sz="1700">
              <a:solidFill>
                <a:srgbClr val="FFFFFF"/>
              </a:solidFill>
            </a:endParaRPr>
          </a:p>
          <a:p>
            <a:endParaRPr lang="en-US" sz="1700">
              <a:solidFill>
                <a:srgbClr val="FFFFFF"/>
              </a:solidFill>
            </a:endParaRPr>
          </a:p>
          <a:p>
            <a:endParaRPr lang="en-US" sz="1700">
              <a:solidFill>
                <a:srgbClr val="FFFFFF"/>
              </a:solidFill>
            </a:endParaRPr>
          </a:p>
        </p:txBody>
      </p:sp>
      <p:pic>
        <p:nvPicPr>
          <p:cNvPr id="18" name="Picture 17">
            <a:extLst>
              <a:ext uri="{FF2B5EF4-FFF2-40B4-BE49-F238E27FC236}">
                <a16:creationId xmlns:a16="http://schemas.microsoft.com/office/drawing/2014/main" id="{31ED8C65-6438-4C72-C193-A12EE927626C}"/>
              </a:ext>
            </a:extLst>
          </p:cNvPr>
          <p:cNvPicPr>
            <a:picLocks noChangeAspect="1"/>
          </p:cNvPicPr>
          <p:nvPr/>
        </p:nvPicPr>
        <p:blipFill>
          <a:blip r:embed="rId3"/>
          <a:srcRect l="60" r="-6" b="-6"/>
          <a:stretch>
            <a:fillRect/>
          </a:stretch>
        </p:blipFill>
        <p:spPr>
          <a:xfrm>
            <a:off x="3870193" y="2328517"/>
            <a:ext cx="2142108" cy="1707036"/>
          </a:xfrm>
          <a:prstGeom prst="rect">
            <a:avLst/>
          </a:prstGeom>
        </p:spPr>
      </p:pic>
      <p:pic>
        <p:nvPicPr>
          <p:cNvPr id="22" name="Picture 21">
            <a:extLst>
              <a:ext uri="{FF2B5EF4-FFF2-40B4-BE49-F238E27FC236}">
                <a16:creationId xmlns:a16="http://schemas.microsoft.com/office/drawing/2014/main" id="{C1F216BE-BA3B-2F5E-4A5C-C7940F5FCA68}"/>
              </a:ext>
            </a:extLst>
          </p:cNvPr>
          <p:cNvPicPr>
            <a:picLocks noChangeAspect="1"/>
          </p:cNvPicPr>
          <p:nvPr/>
        </p:nvPicPr>
        <p:blipFill>
          <a:blip r:embed="rId4"/>
          <a:srcRect l="4885" r="7943" b="4"/>
          <a:stretch>
            <a:fillRect/>
          </a:stretch>
        </p:blipFill>
        <p:spPr>
          <a:xfrm>
            <a:off x="6012300" y="-164088"/>
            <a:ext cx="3131700" cy="3065565"/>
          </a:xfrm>
          <a:prstGeom prst="rect">
            <a:avLst/>
          </a:prstGeom>
        </p:spPr>
      </p:pic>
      <p:pic>
        <p:nvPicPr>
          <p:cNvPr id="16" name="Picture 15">
            <a:extLst>
              <a:ext uri="{FF2B5EF4-FFF2-40B4-BE49-F238E27FC236}">
                <a16:creationId xmlns:a16="http://schemas.microsoft.com/office/drawing/2014/main" id="{08C56235-8462-A980-93E4-4118467C883D}"/>
              </a:ext>
            </a:extLst>
          </p:cNvPr>
          <p:cNvPicPr>
            <a:picLocks noChangeAspect="1"/>
          </p:cNvPicPr>
          <p:nvPr/>
        </p:nvPicPr>
        <p:blipFill>
          <a:blip r:embed="rId5"/>
          <a:srcRect l="14455" r="21659" b="2"/>
          <a:stretch>
            <a:fillRect/>
          </a:stretch>
        </p:blipFill>
        <p:spPr>
          <a:xfrm>
            <a:off x="4136620" y="4445508"/>
            <a:ext cx="1875681" cy="2002536"/>
          </a:xfrm>
          <a:prstGeom prst="rect">
            <a:avLst/>
          </a:prstGeom>
        </p:spPr>
      </p:pic>
      <p:pic>
        <p:nvPicPr>
          <p:cNvPr id="20" name="Picture 19">
            <a:extLst>
              <a:ext uri="{FF2B5EF4-FFF2-40B4-BE49-F238E27FC236}">
                <a16:creationId xmlns:a16="http://schemas.microsoft.com/office/drawing/2014/main" id="{A8FBD97F-4BB8-D7C2-E850-865654A4F81C}"/>
              </a:ext>
            </a:extLst>
          </p:cNvPr>
          <p:cNvPicPr>
            <a:picLocks noChangeAspect="1"/>
          </p:cNvPicPr>
          <p:nvPr/>
        </p:nvPicPr>
        <p:blipFill>
          <a:blip r:embed="rId6"/>
          <a:srcRect t="5456" b="5469"/>
          <a:stretch>
            <a:fillRect/>
          </a:stretch>
        </p:blipFill>
        <p:spPr>
          <a:xfrm>
            <a:off x="6134594" y="2109522"/>
            <a:ext cx="2887110" cy="2571684"/>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Visual Storytelling</a:t>
            </a:r>
            <a:endParaRPr b="1" dirty="0"/>
          </a:p>
        </p:txBody>
      </p:sp>
      <p:sp>
        <p:nvSpPr>
          <p:cNvPr id="3" name="Content Placeholder 2"/>
          <p:cNvSpPr>
            <a:spLocks noGrp="1"/>
          </p:cNvSpPr>
          <p:nvPr>
            <p:ph idx="1"/>
          </p:nvPr>
        </p:nvSpPr>
        <p:spPr>
          <a:xfrm>
            <a:off x="281354" y="1575900"/>
            <a:ext cx="8710246" cy="3160224"/>
          </a:xfrm>
        </p:spPr>
        <p:txBody>
          <a:bodyPr>
            <a:normAutofit/>
          </a:bodyPr>
          <a:lstStyle/>
          <a:p>
            <a:pPr marL="0" indent="0">
              <a:buNone/>
            </a:pPr>
            <a:r>
              <a:rPr lang="en-US" sz="2000" dirty="0"/>
              <a:t>Visual storytelling played an important role in presenting the findings of the Online Shopping Behavior project in a clear and interactive manner. Different types of charts such as bar  charts, pie charts, line graphs, and dashboards were used to convert raw data into understandable business insights. The visualizations effectively highlighted trends such as shopping frequency, platform popularity, customer satisfaction, and payment preferences. Graphical representation made the analysis easier to interpret for both technical and non-technical audiences. The dashboards helped in comparing customer segments and identifying key consumer behavior patterns. Effective storytelling through visuals improved communication of insights and supported data-driven decision-making.</a:t>
            </a:r>
            <a:endParaRPr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Statistical Insights &amp; Findings</a:t>
            </a:r>
            <a:endParaRPr b="1" dirty="0"/>
          </a:p>
        </p:txBody>
      </p:sp>
      <p:sp>
        <p:nvSpPr>
          <p:cNvPr id="3" name="Content Placeholder 2"/>
          <p:cNvSpPr>
            <a:spLocks noGrp="1"/>
          </p:cNvSpPr>
          <p:nvPr>
            <p:ph idx="1"/>
          </p:nvPr>
        </p:nvSpPr>
        <p:spPr>
          <a:xfrm>
            <a:off x="175846" y="1417638"/>
            <a:ext cx="8839200" cy="3400547"/>
          </a:xfrm>
        </p:spPr>
        <p:txBody>
          <a:bodyPr>
            <a:normAutofit lnSpcReduction="10000"/>
          </a:bodyPr>
          <a:lstStyle/>
          <a:p>
            <a:pPr marL="0" indent="0">
              <a:buNone/>
            </a:pPr>
            <a:r>
              <a:rPr lang="en-US" sz="2000" dirty="0"/>
              <a:t>The statistical analysis of the dataset provided valuable insights into consumer online shopping behavior. The findings showed that online shopping frequency is higher among younger customers due to increased internet usage and digital awareness. Discounts and promotional offers significantly influence purchasing decisions, while product ratings and reviews impact customer trust and buying confidence. Statistical summaries also revealed that Amazon and Flipkart are among the most preferred e-commerce platforms. Most respondents favored secure online payment methods rather than cash transactions. The analysis identified strong relationships between convenience, pricing strategies, and customer satisfaction, helping businesses understand the major drivers behind online consumer purchasing behavior.</a:t>
            </a:r>
            <a:endParaRPr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Business Recommendations</a:t>
            </a:r>
          </a:p>
        </p:txBody>
      </p:sp>
      <p:sp>
        <p:nvSpPr>
          <p:cNvPr id="3" name="Content Placeholder 2"/>
          <p:cNvSpPr>
            <a:spLocks noGrp="1"/>
          </p:cNvSpPr>
          <p:nvPr>
            <p:ph idx="1"/>
          </p:nvPr>
        </p:nvSpPr>
        <p:spPr/>
        <p:txBody>
          <a:bodyPr/>
          <a:lstStyle/>
          <a:p>
            <a:endParaRPr dirty="0"/>
          </a:p>
          <a:p>
            <a:r>
              <a:rPr dirty="0"/>
              <a:t>• Improve delivery speed</a:t>
            </a:r>
          </a:p>
          <a:p>
            <a:r>
              <a:rPr dirty="0"/>
              <a:t>• Optimize mobile experience</a:t>
            </a:r>
          </a:p>
          <a:p>
            <a:r>
              <a:rPr dirty="0"/>
              <a:t>• Provide discounts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29369" y="238539"/>
            <a:ext cx="8285260" cy="1434415"/>
          </a:xfrm>
        </p:spPr>
        <p:txBody>
          <a:bodyPr anchor="b">
            <a:normAutofit/>
          </a:bodyPr>
          <a:lstStyle/>
          <a:p>
            <a:pPr>
              <a:lnSpc>
                <a:spcPct val="90000"/>
              </a:lnSpc>
            </a:pPr>
            <a:r>
              <a:rPr lang="en-US" sz="4700" b="1"/>
              <a:t>Strategic Recommendations (The "Data Analyst" Perspective)</a:t>
            </a:r>
          </a:p>
        </p:txBody>
      </p:sp>
      <p:sp>
        <p:nvSpPr>
          <p:cNvPr id="14"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767709"/>
            <a:ext cx="8229600" cy="18288"/>
          </a:xfrm>
          <a:custGeom>
            <a:avLst/>
            <a:gdLst>
              <a:gd name="csX0" fmla="*/ 0 w 8229600"/>
              <a:gd name="csY0" fmla="*/ 0 h 18288"/>
              <a:gd name="csX1" fmla="*/ 521208 w 8229600"/>
              <a:gd name="csY1" fmla="*/ 0 h 18288"/>
              <a:gd name="csX2" fmla="*/ 1371600 w 8229600"/>
              <a:gd name="csY2" fmla="*/ 0 h 18288"/>
              <a:gd name="csX3" fmla="*/ 2221992 w 8229600"/>
              <a:gd name="csY3" fmla="*/ 0 h 18288"/>
              <a:gd name="csX4" fmla="*/ 3072384 w 8229600"/>
              <a:gd name="csY4" fmla="*/ 0 h 18288"/>
              <a:gd name="csX5" fmla="*/ 3511296 w 8229600"/>
              <a:gd name="csY5" fmla="*/ 0 h 18288"/>
              <a:gd name="csX6" fmla="*/ 4114800 w 8229600"/>
              <a:gd name="csY6" fmla="*/ 0 h 18288"/>
              <a:gd name="csX7" fmla="*/ 4553712 w 8229600"/>
              <a:gd name="csY7" fmla="*/ 0 h 18288"/>
              <a:gd name="csX8" fmla="*/ 5239512 w 8229600"/>
              <a:gd name="csY8" fmla="*/ 0 h 18288"/>
              <a:gd name="csX9" fmla="*/ 5843016 w 8229600"/>
              <a:gd name="csY9" fmla="*/ 0 h 18288"/>
              <a:gd name="csX10" fmla="*/ 6611112 w 8229600"/>
              <a:gd name="csY10" fmla="*/ 0 h 18288"/>
              <a:gd name="csX11" fmla="*/ 7461504 w 8229600"/>
              <a:gd name="csY11" fmla="*/ 0 h 18288"/>
              <a:gd name="csX12" fmla="*/ 8229600 w 8229600"/>
              <a:gd name="csY12" fmla="*/ 0 h 18288"/>
              <a:gd name="csX13" fmla="*/ 8229600 w 8229600"/>
              <a:gd name="csY13" fmla="*/ 18288 h 18288"/>
              <a:gd name="csX14" fmla="*/ 7461504 w 8229600"/>
              <a:gd name="csY14" fmla="*/ 18288 h 18288"/>
              <a:gd name="csX15" fmla="*/ 6940296 w 8229600"/>
              <a:gd name="csY15" fmla="*/ 18288 h 18288"/>
              <a:gd name="csX16" fmla="*/ 6419088 w 8229600"/>
              <a:gd name="csY16" fmla="*/ 18288 h 18288"/>
              <a:gd name="csX17" fmla="*/ 5650992 w 8229600"/>
              <a:gd name="csY17" fmla="*/ 18288 h 18288"/>
              <a:gd name="csX18" fmla="*/ 5129784 w 8229600"/>
              <a:gd name="csY18" fmla="*/ 18288 h 18288"/>
              <a:gd name="csX19" fmla="*/ 4690872 w 8229600"/>
              <a:gd name="csY19" fmla="*/ 18288 h 18288"/>
              <a:gd name="csX20" fmla="*/ 4087368 w 8229600"/>
              <a:gd name="csY20" fmla="*/ 18288 h 18288"/>
              <a:gd name="csX21" fmla="*/ 3401568 w 8229600"/>
              <a:gd name="csY21" fmla="*/ 18288 h 18288"/>
              <a:gd name="csX22" fmla="*/ 2798064 w 8229600"/>
              <a:gd name="csY22" fmla="*/ 18288 h 18288"/>
              <a:gd name="csX23" fmla="*/ 2276856 w 8229600"/>
              <a:gd name="csY23" fmla="*/ 18288 h 18288"/>
              <a:gd name="csX24" fmla="*/ 1426464 w 8229600"/>
              <a:gd name="csY24" fmla="*/ 18288 h 18288"/>
              <a:gd name="csX25" fmla="*/ 740664 w 8229600"/>
              <a:gd name="csY25" fmla="*/ 18288 h 18288"/>
              <a:gd name="csX26" fmla="*/ 0 w 8229600"/>
              <a:gd name="csY26" fmla="*/ 18288 h 18288"/>
              <a:gd name="csX27" fmla="*/ 0 w 8229600"/>
              <a:gd name="csY2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F68223D-328D-25FD-FB97-784791E71170}"/>
              </a:ext>
            </a:extLst>
          </p:cNvPr>
          <p:cNvPicPr>
            <a:picLocks noChangeAspect="1"/>
          </p:cNvPicPr>
          <p:nvPr/>
        </p:nvPicPr>
        <p:blipFill>
          <a:blip r:embed="rId2"/>
          <a:srcRect l="25630" r="10572" b="-2"/>
          <a:stretch>
            <a:fillRect/>
          </a:stretch>
        </p:blipFill>
        <p:spPr>
          <a:xfrm>
            <a:off x="429369" y="2002056"/>
            <a:ext cx="2957886"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p:spPr>
      </p:pic>
      <p:sp>
        <p:nvSpPr>
          <p:cNvPr id="3" name="Content Placeholder 2"/>
          <p:cNvSpPr>
            <a:spLocks noGrp="1"/>
          </p:cNvSpPr>
          <p:nvPr>
            <p:ph idx="1"/>
          </p:nvPr>
        </p:nvSpPr>
        <p:spPr>
          <a:xfrm>
            <a:off x="3679465" y="2266388"/>
            <a:ext cx="5035164" cy="3451660"/>
          </a:xfrm>
        </p:spPr>
        <p:txBody>
          <a:bodyPr anchor="t">
            <a:noAutofit/>
          </a:bodyPr>
          <a:lstStyle/>
          <a:p>
            <a:pPr marL="0" indent="0">
              <a:lnSpc>
                <a:spcPct val="90000"/>
              </a:lnSpc>
              <a:buNone/>
            </a:pPr>
            <a:r>
              <a:rPr lang="en-US" sz="1800" dirty="0"/>
              <a:t>Based on the analysis, several strategic recommendations can help e-commerce businesses improve customer engagement and sales performance. Companies should focus on personalized marketing strategies, targeted discounts, and loyalty programs to attract frequent online shoppers. Improving delivery speed, return policies, and customer service can enhance overall customer satisfaction. Businesses should also invest in secure digital payment systems to build customer trust. Product reviews and ratings should be displayed clearly to support purchasing decisions. From a data analyst perspective, continuous monitoring of customer behavior using dashboards and analytical tools can help organizations make data-driven business decisions and improve competitive advantage in the online retail market.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Future Scope</a:t>
            </a:r>
          </a:p>
        </p:txBody>
      </p:sp>
      <p:sp>
        <p:nvSpPr>
          <p:cNvPr id="3" name="Content Placeholder 2"/>
          <p:cNvSpPr>
            <a:spLocks noGrp="1"/>
          </p:cNvSpPr>
          <p:nvPr>
            <p:ph idx="1"/>
          </p:nvPr>
        </p:nvSpPr>
        <p:spPr>
          <a:xfrm>
            <a:off x="457200" y="1600200"/>
            <a:ext cx="8229600" cy="2129589"/>
          </a:xfrm>
        </p:spPr>
        <p:txBody>
          <a:bodyPr/>
          <a:lstStyle/>
          <a:p>
            <a:pPr marL="0" indent="0">
              <a:buNone/>
            </a:pPr>
            <a:r>
              <a:rPr dirty="0"/>
              <a:t>• Machine Learning predictions</a:t>
            </a:r>
            <a:endParaRPr lang="en-US" dirty="0"/>
          </a:p>
          <a:p>
            <a:pPr marL="0" indent="0">
              <a:buNone/>
            </a:pPr>
            <a:r>
              <a:rPr lang="en-US" dirty="0"/>
              <a:t>• Personalized recommendations</a:t>
            </a:r>
          </a:p>
          <a:p>
            <a:pPr marL="0" indent="0">
              <a:buNone/>
            </a:pPr>
            <a:r>
              <a:rPr dirty="0"/>
              <a:t>• Advanced analytics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2BAC26-B824-7371-DDFB-8EFFCD042EBA}"/>
              </a:ext>
            </a:extLst>
          </p:cNvPr>
          <p:cNvSpPr txBox="1"/>
          <p:nvPr/>
        </p:nvSpPr>
        <p:spPr>
          <a:xfrm>
            <a:off x="1280746" y="394844"/>
            <a:ext cx="6582508" cy="707886"/>
          </a:xfrm>
          <a:prstGeom prst="rect">
            <a:avLst/>
          </a:prstGeom>
          <a:noFill/>
        </p:spPr>
        <p:txBody>
          <a:bodyPr wrap="square" rtlCol="0">
            <a:spAutoFit/>
          </a:bodyPr>
          <a:lstStyle/>
          <a:p>
            <a:r>
              <a:rPr lang="en-US" sz="4000" b="1" dirty="0"/>
              <a:t>Deployment &amp; Technical Skills</a:t>
            </a:r>
          </a:p>
        </p:txBody>
      </p:sp>
      <p:sp>
        <p:nvSpPr>
          <p:cNvPr id="3" name="TextBox 2">
            <a:extLst>
              <a:ext uri="{FF2B5EF4-FFF2-40B4-BE49-F238E27FC236}">
                <a16:creationId xmlns:a16="http://schemas.microsoft.com/office/drawing/2014/main" id="{C4307E6F-1DB4-76E3-4F4E-484278101DBF}"/>
              </a:ext>
            </a:extLst>
          </p:cNvPr>
          <p:cNvSpPr txBox="1"/>
          <p:nvPr/>
        </p:nvSpPr>
        <p:spPr>
          <a:xfrm>
            <a:off x="199292" y="1746738"/>
            <a:ext cx="8862646" cy="3170099"/>
          </a:xfrm>
          <a:prstGeom prst="rect">
            <a:avLst/>
          </a:prstGeom>
          <a:noFill/>
        </p:spPr>
        <p:txBody>
          <a:bodyPr wrap="square" rtlCol="0">
            <a:spAutoFit/>
          </a:bodyPr>
          <a:lstStyle/>
          <a:p>
            <a:r>
              <a:rPr lang="en-US" sz="2000" dirty="0"/>
              <a:t>The Online Shopping Behavior project demonstrates practical knowledge of data analysis and business intelligence techniques. Various technical skills were applied throughout the project, including data cleaning, preprocessing, data visualization, and statistical analysis. Excel was used for handling raw survey data and performing preprocessing tasks such as removing duplicates and formatting datasets. Visualization tools and analytical techniques were used to create charts, dashboards, and reports for effective presentation of insights. The project also involved problem-solving, analytical thinking, and interpretation of business trends. These technical and analytical skills are essential for real-world data analyst roles and support effective decision-making using data-driven approaches.</a:t>
            </a:r>
          </a:p>
        </p:txBody>
      </p:sp>
    </p:spTree>
    <p:extLst>
      <p:ext uri="{BB962C8B-B14F-4D97-AF65-F5344CB8AC3E}">
        <p14:creationId xmlns:p14="http://schemas.microsoft.com/office/powerpoint/2010/main" val="2957585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48915"/>
            <a:ext cx="8229600" cy="1143000"/>
          </a:xfrm>
        </p:spPr>
        <p:txBody>
          <a:bodyPr>
            <a:normAutofit/>
          </a:bodyPr>
          <a:lstStyle/>
          <a:p>
            <a:r>
              <a:rPr sz="4800" b="1" dirty="0"/>
              <a:t>Thank You</a:t>
            </a:r>
          </a:p>
        </p:txBody>
      </p:sp>
      <p:sp>
        <p:nvSpPr>
          <p:cNvPr id="3" name="Content Placeholder 2"/>
          <p:cNvSpPr>
            <a:spLocks noGrp="1"/>
          </p:cNvSpPr>
          <p:nvPr>
            <p:ph idx="1"/>
          </p:nvPr>
        </p:nvSpPr>
        <p:spPr>
          <a:xfrm flipV="1">
            <a:off x="-35168" y="7174522"/>
            <a:ext cx="492368" cy="45719"/>
          </a:xfrm>
        </p:spPr>
        <p:txBody>
          <a:bodyPr vert="horz" lIns="91440" tIns="45720" rIns="91440" bIns="45720" rtlCol="0">
            <a:normAutofit fontScale="25000" lnSpcReduction="20000"/>
          </a:bodyPr>
          <a:lstStyle/>
          <a:p>
            <a:pPr marL="0" indent="0">
              <a:buNone/>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Facet</Template>
  <TotalTime>104</TotalTime>
  <Words>945</Words>
  <Application>Microsoft Office PowerPoint</Application>
  <PresentationFormat>On-screen Show (4:3)</PresentationFormat>
  <Paragraphs>46</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Online Shopping Behavior Analysis</vt:lpstr>
      <vt:lpstr>INTRODUTION</vt:lpstr>
      <vt:lpstr>Objectives</vt:lpstr>
      <vt:lpstr>Data Processing &amp; Methodology</vt:lpstr>
      <vt:lpstr>Exploratory Data Analysis (EDA) Highlights</vt:lpstr>
      <vt:lpstr>Methodology &amp; Tools</vt:lpstr>
      <vt:lpstr>Visual Storytelling</vt:lpstr>
      <vt:lpstr>Statistical Insights &amp; Findings</vt:lpstr>
      <vt:lpstr>Business Recommendations</vt:lpstr>
      <vt:lpstr>Strategic Recommendations (The "Data Analyst" Perspective)</vt:lpstr>
      <vt:lpstr>Future Scope</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sanju chiloji</cp:lastModifiedBy>
  <cp:revision>3</cp:revision>
  <dcterms:created xsi:type="dcterms:W3CDTF">2013-01-27T09:14:16Z</dcterms:created>
  <dcterms:modified xsi:type="dcterms:W3CDTF">2026-05-10T19:43:32Z</dcterms:modified>
  <cp:category/>
</cp:coreProperties>
</file>